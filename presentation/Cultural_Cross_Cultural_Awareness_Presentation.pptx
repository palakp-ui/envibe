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77240" y="2148840"/>
            <a:ext cx="4114800" cy="5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CCCCCC"/>
                </a:solidFill>
                <a:latin typeface="Arial"/>
              </a:defRPr>
            </a:pPr>
            <a:r>
              <a:t>EDUCATIONAL DIALOGUES ON</a:t>
            </a:r>
          </a:p>
          <a:p>
            <a:pPr>
              <a:defRPr sz="3800" b="1">
                <a:solidFill>
                  <a:srgbClr val="F5F5F5"/>
                </a:solidFill>
                <a:latin typeface="Arial Black"/>
              </a:defRPr>
            </a:pPr>
            <a:r>
              <a:t>CULTURAL AND CROSS-CULTURAL AWARENESS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246120"/>
            <a:ext cx="54864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5F5F5"/>
                </a:solidFill>
                <a:latin typeface="Arial"/>
              </a:defRPr>
            </a:pPr>
            <a:r>
              <a:t>Palak Patel</a:t>
            </a:r>
          </a:p>
          <a:p>
            <a:pPr>
              <a:spcAft>
                <a:spcPts val="800"/>
              </a:spcAft>
              <a:defRPr sz="1600" b="0">
                <a:solidFill>
                  <a:srgbClr val="CCCCCC"/>
                </a:solidFill>
                <a:latin typeface="Arial"/>
              </a:defRPr>
            </a:pPr>
            <a:r>
              <a:t>June 26, 2026</a:t>
            </a:r>
          </a:p>
          <a:p>
            <a:pPr>
              <a:spcAft>
                <a:spcPts val="800"/>
              </a:spcAft>
              <a:defRPr sz="1600" b="0">
                <a:solidFill>
                  <a:srgbClr val="CCCCCC"/>
                </a:solidFill>
                <a:latin typeface="Arial"/>
              </a:defRPr>
            </a:pPr>
            <a:r>
              <a:t>United States 🇺🇸</a:t>
            </a:r>
          </a:p>
        </p:txBody>
      </p:sp>
      <p:pic>
        <p:nvPicPr>
          <p:cNvPr id="6" name="Picture 5" descr="us_fl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097280"/>
            <a:ext cx="2194560" cy="1371600"/>
          </a:xfrm>
          <a:prstGeom prst="rect">
            <a:avLst/>
          </a:prstGeom>
        </p:spPr>
      </p:pic>
      <p:pic>
        <p:nvPicPr>
          <p:cNvPr id="7" name="Picture 6" descr="world_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926080"/>
            <a:ext cx="50292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77240" y="502920"/>
            <a:ext cx="2011680" cy="5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  <a:latin typeface="Arial"/>
              </a:defRPr>
            </a:pPr>
            <a:r>
              <a:t>Educational Dialogues on Cultural Awareness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F5F5F5"/>
                </a:solidFill>
                <a:latin typeface="Arial Black"/>
              </a:defRPr>
            </a:pPr>
            <a:r>
              <a:t>INTRODUCTION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5029200" cy="1280160"/>
          </a:xfrm>
          <a:prstGeom prst="roundRect">
            <a:avLst/>
          </a:prstGeom>
          <a:solidFill>
            <a:srgbClr val="2E2E2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27000"/>
          <a:lstStyle/>
          <a:p>
            <a:pPr algn="ctr">
              <a:spcAft>
                <a:spcPts val="600"/>
              </a:spcAft>
              <a:defRPr sz="1100" b="1">
                <a:solidFill>
                  <a:srgbClr val="CCCCCC"/>
                </a:solidFill>
                <a:latin typeface="Arial"/>
              </a:defRPr>
            </a:pPr>
            <a:r>
              <a:t>WHAT IS CULTURE?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Shared beliefs, values, behaviors, and symbols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Passed between generations and groups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Shapes identity and everyday life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063240"/>
            <a:ext cx="5029200" cy="1280160"/>
          </a:xfrm>
          <a:prstGeom prst="roundRect">
            <a:avLst/>
          </a:prstGeom>
          <a:solidFill>
            <a:srgbClr val="2E2E2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27000"/>
          <a:lstStyle/>
          <a:p>
            <a:pPr algn="ctr">
              <a:spcAft>
                <a:spcPts val="600"/>
              </a:spcAft>
              <a:defRPr sz="1100" b="1">
                <a:solidFill>
                  <a:srgbClr val="CCCCCC"/>
                </a:solidFill>
                <a:latin typeface="Arial"/>
              </a:defRPr>
            </a:pPr>
            <a:r>
              <a:t>WHY IT MATTERS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Builds empathy across differences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Reduces bias and misunderstanding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Prepares us for a connected world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572000"/>
            <a:ext cx="6583680" cy="1097280"/>
          </a:xfrm>
          <a:prstGeom prst="roundRect">
            <a:avLst/>
          </a:prstGeom>
          <a:solidFill>
            <a:srgbClr val="0A0A0A"/>
          </a:solidFill>
          <a:ln w="127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i="1">
                <a:solidFill>
                  <a:srgbClr val="E8E8E8"/>
                </a:solidFill>
                <a:latin typeface="Arial"/>
              </a:defRPr>
            </a:pPr>
            <a:r>
              <a:t>"Culture is the widening of the mind and of the spirit." — Jawaharlal Nehru</a:t>
            </a:r>
          </a:p>
        </p:txBody>
      </p:sp>
      <p:pic>
        <p:nvPicPr>
          <p:cNvPr id="9" name="Picture 8" descr="world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600200"/>
            <a:ext cx="2011680" cy="2011680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9326880" y="1828800"/>
            <a:ext cx="1005840" cy="1005840"/>
          </a:xfrm>
          <a:prstGeom prst="ellipse">
            <a:avLst/>
          </a:prstGeom>
          <a:solidFill>
            <a:srgbClr val="0A0A0A"/>
          </a:solidFill>
          <a:ln w="1905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5F5F5"/>
                </a:solidFill>
              </a:defRPr>
            </a:pPr>
            <a:r>
              <a:t>🤝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0" y="3200400"/>
            <a:ext cx="1005840" cy="1005840"/>
          </a:xfrm>
          <a:prstGeom prst="ellipse">
            <a:avLst/>
          </a:prstGeom>
          <a:solidFill>
            <a:srgbClr val="0A0A0A"/>
          </a:solidFill>
          <a:ln w="1905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5F5F5"/>
                </a:solidFill>
              </a:defRPr>
            </a:pPr>
            <a:r>
              <a:t>💬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0" y="4572000"/>
            <a:ext cx="1005840" cy="1005840"/>
          </a:xfrm>
          <a:prstGeom prst="ellipse">
            <a:avLst/>
          </a:prstGeom>
          <a:solidFill>
            <a:srgbClr val="0A0A0A"/>
          </a:solidFill>
          <a:ln w="1905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5F5F5"/>
                </a:solidFill>
              </a:defRPr>
            </a:pPr>
            <a:r>
              <a:t>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77240" y="502920"/>
            <a:ext cx="2011680" cy="5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  <a:latin typeface="Arial"/>
              </a:defRPr>
            </a:pPr>
            <a:r>
              <a:t>Educational Dialogues on Cultural Awareness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7315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5F5F5"/>
                </a:solidFill>
                <a:latin typeface="Arial Black"/>
              </a:defRPr>
            </a:pPr>
            <a:r>
              <a:t>CULTURE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5394960" cy="1417320"/>
          </a:xfrm>
          <a:prstGeom prst="roundRect">
            <a:avLst/>
          </a:prstGeom>
          <a:solidFill>
            <a:srgbClr val="2E2E2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27000"/>
          <a:lstStyle/>
          <a:p>
            <a:pPr algn="ctr">
              <a:spcAft>
                <a:spcPts val="600"/>
              </a:spcAft>
              <a:defRPr sz="1100" b="1">
                <a:solidFill>
                  <a:srgbClr val="CCCCCC"/>
                </a:solidFill>
                <a:latin typeface="Arial"/>
              </a:defRPr>
            </a:pPr>
            <a:r>
              <a:t>DEFINITION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Shared values, beliefs, customs, and behaviors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Shape a group's way of life and identity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246120"/>
            <a:ext cx="5394960" cy="2148840"/>
          </a:xfrm>
          <a:prstGeom prst="roundRect">
            <a:avLst/>
          </a:prstGeom>
          <a:solidFill>
            <a:srgbClr val="2E2E2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27000"/>
          <a:lstStyle/>
          <a:p>
            <a:pPr algn="ctr">
              <a:spcAft>
                <a:spcPts val="600"/>
              </a:spcAft>
              <a:defRPr sz="1100" b="1">
                <a:solidFill>
                  <a:srgbClr val="CCCCCC"/>
                </a:solidFill>
                <a:latin typeface="Arial"/>
              </a:defRPr>
            </a:pPr>
            <a:r>
              <a:t>EXAMPLE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Krystal's identity blends German and Cherokee heritage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She moved from Los Angeles to the Southeastern U.S.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Multiple cultural influences shape how she sees the world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806440"/>
            <a:ext cx="7132320" cy="502920"/>
          </a:xfrm>
          <a:prstGeom prst="roundRect">
            <a:avLst/>
          </a:prstGeom>
          <a:solidFill>
            <a:srgbClr val="0A0A0A"/>
          </a:solidFill>
          <a:ln w="127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8E8E8"/>
                </a:solidFill>
                <a:latin typeface="Arial"/>
              </a:defRPr>
            </a:pPr>
            <a:r>
              <a:t>KEY TAKEAWAY: Culture is learned, shared, and always evolving.</a:t>
            </a:r>
          </a:p>
        </p:txBody>
      </p:sp>
      <p:pic>
        <p:nvPicPr>
          <p:cNvPr id="9" name="Picture 8" descr="german_fl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600200"/>
            <a:ext cx="1463040" cy="914400"/>
          </a:xfrm>
          <a:prstGeom prst="rect">
            <a:avLst/>
          </a:prstGeom>
        </p:spPr>
      </p:pic>
      <p:pic>
        <p:nvPicPr>
          <p:cNvPr id="10" name="Picture 9" descr="cherokee_patte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600200"/>
            <a:ext cx="1645920" cy="914400"/>
          </a:xfrm>
          <a:prstGeom prst="rect">
            <a:avLst/>
          </a:prstGeom>
        </p:spPr>
      </p:pic>
      <p:pic>
        <p:nvPicPr>
          <p:cNvPr id="11" name="Picture 10" descr="migration_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2743200"/>
            <a:ext cx="3291840" cy="1645920"/>
          </a:xfrm>
          <a:prstGeom prst="rect">
            <a:avLst/>
          </a:prstGeom>
        </p:spPr>
      </p:pic>
      <p:pic>
        <p:nvPicPr>
          <p:cNvPr id="12" name="Picture 11" descr="diverse_peo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4572000"/>
            <a:ext cx="3291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77240" y="502920"/>
            <a:ext cx="2011680" cy="5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  <a:latin typeface="Arial"/>
              </a:defRPr>
            </a:pPr>
            <a:r>
              <a:t>Educational Dialogues on Cultural Awareness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7315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5F5F5"/>
                </a:solidFill>
                <a:latin typeface="Arial Black"/>
              </a:defRPr>
            </a:pPr>
            <a:r>
              <a:t>CULTURAL UNIVERSAL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5394960" cy="1417320"/>
          </a:xfrm>
          <a:prstGeom prst="roundRect">
            <a:avLst/>
          </a:prstGeom>
          <a:solidFill>
            <a:srgbClr val="2E2E2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27000"/>
          <a:lstStyle/>
          <a:p>
            <a:pPr algn="ctr">
              <a:spcAft>
                <a:spcPts val="600"/>
              </a:spcAft>
              <a:defRPr sz="1100" b="1">
                <a:solidFill>
                  <a:srgbClr val="CCCCCC"/>
                </a:solidFill>
                <a:latin typeface="Arial"/>
              </a:defRPr>
            </a:pPr>
            <a:r>
              <a:t>DEFINITION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A trait or practice found in every known society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Form varies, but the institution appears everywhere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246120"/>
            <a:ext cx="5394960" cy="2148840"/>
          </a:xfrm>
          <a:prstGeom prst="roundRect">
            <a:avLst/>
          </a:prstGeom>
          <a:solidFill>
            <a:srgbClr val="2E2E2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27000"/>
          <a:lstStyle/>
          <a:p>
            <a:pPr algn="ctr">
              <a:spcAft>
                <a:spcPts val="600"/>
              </a:spcAft>
              <a:defRPr sz="1100" b="1">
                <a:solidFill>
                  <a:srgbClr val="CCCCCC"/>
                </a:solidFill>
                <a:latin typeface="Arial"/>
              </a:defRPr>
            </a:pPr>
            <a:r>
              <a:t>EXAMPLE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Family, language, marriage, religion, and music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Every society creates ways to connect and belong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806440"/>
            <a:ext cx="7132320" cy="502920"/>
          </a:xfrm>
          <a:prstGeom prst="roundRect">
            <a:avLst/>
          </a:prstGeom>
          <a:solidFill>
            <a:srgbClr val="0A0A0A"/>
          </a:solidFill>
          <a:ln w="127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8E8E8"/>
                </a:solidFill>
                <a:latin typeface="Arial"/>
              </a:defRPr>
            </a:pPr>
            <a:r>
              <a:t>KEY TAKEAWAY: Humans share core institutions — expression differs.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600200"/>
            <a:ext cx="1371600" cy="13716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888888"/>
                </a:solidFill>
                <a:latin typeface="Arial"/>
              </a:defRPr>
            </a:pPr>
            <a:r>
              <a:t>Family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00200"/>
            <a:ext cx="1371600" cy="13716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888888"/>
                </a:solidFill>
                <a:latin typeface="Arial"/>
              </a:defRPr>
            </a:pPr>
            <a:r>
              <a:t>Language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3200400"/>
            <a:ext cx="1371600" cy="13716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888888"/>
                </a:solidFill>
                <a:latin typeface="Arial"/>
              </a:defRPr>
            </a:pPr>
            <a:r>
              <a:t>Music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200400"/>
            <a:ext cx="1645920" cy="13716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888888"/>
                </a:solidFill>
                <a:latin typeface="Arial"/>
              </a:defRPr>
            </a:pPr>
            <a:r>
              <a:t>Marriage &amp; Religion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77240" y="502920"/>
            <a:ext cx="2011680" cy="5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  <a:latin typeface="Arial"/>
              </a:defRPr>
            </a:pPr>
            <a:r>
              <a:t>Educational Dialogues on Cultural Awareness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7315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5F5F5"/>
                </a:solidFill>
                <a:latin typeface="Arial Black"/>
              </a:defRPr>
            </a:pPr>
            <a:r>
              <a:t>ETHNOCENTRISM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5394960" cy="1417320"/>
          </a:xfrm>
          <a:prstGeom prst="roundRect">
            <a:avLst/>
          </a:prstGeom>
          <a:solidFill>
            <a:srgbClr val="2E2E2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27000"/>
          <a:lstStyle/>
          <a:p>
            <a:pPr algn="ctr">
              <a:spcAft>
                <a:spcPts val="600"/>
              </a:spcAft>
              <a:defRPr sz="1100" b="1">
                <a:solidFill>
                  <a:srgbClr val="CCCCCC"/>
                </a:solidFill>
                <a:latin typeface="Arial"/>
              </a:defRPr>
            </a:pPr>
            <a:r>
              <a:t>DEFINITION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Judging another culture by your own standards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Often treats your culture as superior or 'normal'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246120"/>
            <a:ext cx="5394960" cy="2148840"/>
          </a:xfrm>
          <a:prstGeom prst="roundRect">
            <a:avLst/>
          </a:prstGeom>
          <a:solidFill>
            <a:srgbClr val="2E2E2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27000"/>
          <a:lstStyle/>
          <a:p>
            <a:pPr algn="ctr">
              <a:spcAft>
                <a:spcPts val="600"/>
              </a:spcAft>
              <a:defRPr sz="1100" b="1">
                <a:solidFill>
                  <a:srgbClr val="CCCCCC"/>
                </a:solidFill>
                <a:latin typeface="Arial"/>
              </a:defRPr>
            </a:pPr>
            <a:r>
              <a:t>EXAMPLE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Calling insect-based diets 'gross'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Because they differ from your culture's food norms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806440"/>
            <a:ext cx="7132320" cy="502920"/>
          </a:xfrm>
          <a:prstGeom prst="roundRect">
            <a:avLst/>
          </a:prstGeom>
          <a:solidFill>
            <a:srgbClr val="0A0A0A"/>
          </a:solidFill>
          <a:ln w="127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8E8E8"/>
                </a:solidFill>
                <a:latin typeface="Arial"/>
              </a:defRPr>
            </a:pPr>
            <a:r>
              <a:t>KEY TAKEAWAY: My culture is the center — not the universal standard.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600200"/>
            <a:ext cx="3291840" cy="22860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888888"/>
                </a:solidFill>
                <a:latin typeface="Arial"/>
              </a:defRPr>
            </a:pPr>
            <a:r>
              <a:t>⚖️ My Way vs. Their Way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4114800"/>
            <a:ext cx="3291840" cy="146304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888888"/>
                </a:solidFill>
                <a:latin typeface="Arial"/>
              </a:defRPr>
            </a:pPr>
            <a:r>
              <a:t>🍽️ Food Norms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77240" y="502920"/>
            <a:ext cx="2011680" cy="5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  <a:latin typeface="Arial"/>
              </a:defRPr>
            </a:pPr>
            <a:r>
              <a:t>Educational Dialogues on Cultural Awareness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7315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5F5F5"/>
                </a:solidFill>
                <a:latin typeface="Arial Black"/>
              </a:defRPr>
            </a:pPr>
            <a:r>
              <a:t>CULTURAL RELATIVISM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5394960" cy="1417320"/>
          </a:xfrm>
          <a:prstGeom prst="roundRect">
            <a:avLst/>
          </a:prstGeom>
          <a:solidFill>
            <a:srgbClr val="2E2E2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27000"/>
          <a:lstStyle/>
          <a:p>
            <a:pPr algn="ctr">
              <a:spcAft>
                <a:spcPts val="600"/>
              </a:spcAft>
              <a:defRPr sz="1100" b="1">
                <a:solidFill>
                  <a:srgbClr val="CCCCCC"/>
                </a:solidFill>
                <a:latin typeface="Arial"/>
              </a:defRPr>
            </a:pPr>
            <a:r>
              <a:t>DEFINITION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Evaluate a culture on its own values and context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Suspend judgment based on outside standards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246120"/>
            <a:ext cx="5394960" cy="2148840"/>
          </a:xfrm>
          <a:prstGeom prst="roundRect">
            <a:avLst/>
          </a:prstGeom>
          <a:solidFill>
            <a:srgbClr val="2E2E2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27000"/>
          <a:lstStyle/>
          <a:p>
            <a:pPr algn="ctr">
              <a:spcAft>
                <a:spcPts val="600"/>
              </a:spcAft>
              <a:defRPr sz="1100" b="1">
                <a:solidFill>
                  <a:srgbClr val="CCCCCC"/>
                </a:solidFill>
                <a:latin typeface="Arial"/>
              </a:defRPr>
            </a:pPr>
            <a:r>
              <a:t>EXAMPLE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Understanding arranged marriages within their social context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Asking why practices exist before labeling them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806440"/>
            <a:ext cx="7132320" cy="502920"/>
          </a:xfrm>
          <a:prstGeom prst="roundRect">
            <a:avLst/>
          </a:prstGeom>
          <a:solidFill>
            <a:srgbClr val="0A0A0A"/>
          </a:solidFill>
          <a:ln w="127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8E8E8"/>
                </a:solidFill>
                <a:latin typeface="Arial"/>
              </a:defRPr>
            </a:pPr>
            <a:r>
              <a:t>KEY TAKEAWAY: Understand a culture by its own standards.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600200"/>
            <a:ext cx="3291840" cy="201168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888888"/>
                </a:solidFill>
                <a:latin typeface="Arial"/>
              </a:defRPr>
            </a:pPr>
            <a:r>
              <a:t>🔍 Context First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3840480"/>
            <a:ext cx="3291840" cy="18288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888888"/>
                </a:solidFill>
                <a:latin typeface="Arial"/>
              </a:defRPr>
            </a:pPr>
            <a:r>
              <a:t>🌍 Local Meaning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77240" y="502920"/>
            <a:ext cx="2011680" cy="5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  <a:latin typeface="Arial"/>
              </a:defRPr>
            </a:pPr>
            <a:r>
              <a:t>Educational Dialogues on Cultural Awareness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7315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5F5F5"/>
                </a:solidFill>
                <a:latin typeface="Arial Black"/>
              </a:defRPr>
            </a:pPr>
            <a:r>
              <a:t>LANGUAGE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5394960" cy="1417320"/>
          </a:xfrm>
          <a:prstGeom prst="roundRect">
            <a:avLst/>
          </a:prstGeom>
          <a:solidFill>
            <a:srgbClr val="2E2E2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27000"/>
          <a:lstStyle/>
          <a:p>
            <a:pPr algn="ctr">
              <a:spcAft>
                <a:spcPts val="600"/>
              </a:spcAft>
              <a:defRPr sz="1100" b="1">
                <a:solidFill>
                  <a:srgbClr val="CCCCCC"/>
                </a:solidFill>
                <a:latin typeface="Arial"/>
              </a:defRPr>
            </a:pPr>
            <a:r>
              <a:t>DEFINITION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A system of symbols used to communicate culture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Shapes thought, identity, and social interaction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246120"/>
            <a:ext cx="5394960" cy="2148840"/>
          </a:xfrm>
          <a:prstGeom prst="roundRect">
            <a:avLst/>
          </a:prstGeom>
          <a:solidFill>
            <a:srgbClr val="2E2E2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27000"/>
          <a:lstStyle/>
          <a:p>
            <a:pPr algn="ctr">
              <a:spcAft>
                <a:spcPts val="600"/>
              </a:spcAft>
              <a:defRPr sz="1100" b="1">
                <a:solidFill>
                  <a:srgbClr val="CCCCCC"/>
                </a:solidFill>
                <a:latin typeface="Arial"/>
              </a:defRPr>
            </a:pPr>
            <a:r>
              <a:t>EXAMPLE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English, Spanish, and American Sign Language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Cherokee language preservation efforts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806440"/>
            <a:ext cx="7132320" cy="502920"/>
          </a:xfrm>
          <a:prstGeom prst="roundRect">
            <a:avLst/>
          </a:prstGeom>
          <a:solidFill>
            <a:srgbClr val="0A0A0A"/>
          </a:solidFill>
          <a:ln w="127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8E8E8"/>
                </a:solidFill>
                <a:latin typeface="Arial"/>
              </a:defRPr>
            </a:pPr>
            <a:r>
              <a:t>KEY TAKEAWAY: Language carries culture — and can be lost or revived.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600200"/>
            <a:ext cx="1645920" cy="164592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888888"/>
                </a:solidFill>
                <a:latin typeface="Arial"/>
              </a:defRPr>
            </a:pPr>
            <a:r>
              <a:t>Speech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1600200"/>
            <a:ext cx="1371600" cy="164592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888888"/>
                </a:solidFill>
                <a:latin typeface="Arial"/>
              </a:defRPr>
            </a:pPr>
            <a:r>
              <a:t>A · B · 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3474720"/>
            <a:ext cx="3291840" cy="164592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888888"/>
                </a:solidFill>
                <a:latin typeface="Arial"/>
              </a:defRPr>
            </a:pPr>
            <a:r>
              <a:t>Cherokee Syllabary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77240" y="502920"/>
            <a:ext cx="2011680" cy="5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  <a:latin typeface="Arial"/>
              </a:defRPr>
            </a:pPr>
            <a:r>
              <a:t>Educational Dialogues on Cultural Awareness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7315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5F5F5"/>
                </a:solidFill>
                <a:latin typeface="Arial Black"/>
              </a:defRPr>
            </a:pPr>
            <a:r>
              <a:t>NON-VERBAL COMMUNICATION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5394960" cy="1417320"/>
          </a:xfrm>
          <a:prstGeom prst="roundRect">
            <a:avLst/>
          </a:prstGeom>
          <a:solidFill>
            <a:srgbClr val="2E2E2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27000"/>
          <a:lstStyle/>
          <a:p>
            <a:pPr algn="ctr">
              <a:spcAft>
                <a:spcPts val="600"/>
              </a:spcAft>
              <a:defRPr sz="1100" b="1">
                <a:solidFill>
                  <a:srgbClr val="CCCCCC"/>
                </a:solidFill>
                <a:latin typeface="Arial"/>
              </a:defRPr>
            </a:pPr>
            <a:r>
              <a:t>DEFINITION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Communication without words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Gestures, expressions, tone, eye contact, space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246120"/>
            <a:ext cx="5394960" cy="2148840"/>
          </a:xfrm>
          <a:prstGeom prst="roundRect">
            <a:avLst/>
          </a:prstGeom>
          <a:solidFill>
            <a:srgbClr val="2E2E2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27000"/>
          <a:lstStyle/>
          <a:p>
            <a:pPr algn="ctr">
              <a:spcAft>
                <a:spcPts val="600"/>
              </a:spcAft>
              <a:defRPr sz="1100" b="1">
                <a:solidFill>
                  <a:srgbClr val="CCCCCC"/>
                </a:solidFill>
                <a:latin typeface="Arial"/>
              </a:defRPr>
            </a:pPr>
            <a:r>
              <a:t>EXAMPLE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A thumbs-up, nodding, or smiling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Personal space norms differ across cultures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806440"/>
            <a:ext cx="7132320" cy="502920"/>
          </a:xfrm>
          <a:prstGeom prst="roundRect">
            <a:avLst/>
          </a:prstGeom>
          <a:solidFill>
            <a:srgbClr val="0A0A0A"/>
          </a:solidFill>
          <a:ln w="127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8E8E8"/>
                </a:solidFill>
                <a:latin typeface="Arial"/>
              </a:defRPr>
            </a:pPr>
            <a:r>
              <a:t>KEY TAKEAWAY: Messages travel through body language too.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600200"/>
            <a:ext cx="1463040" cy="146304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888888"/>
                </a:solidFill>
                <a:latin typeface="Arial"/>
              </a:defRPr>
            </a:pPr>
            <a:r>
              <a:t>👍 Thumbs 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600200"/>
            <a:ext cx="1463040" cy="146304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888888"/>
                </a:solidFill>
                <a:latin typeface="Arial"/>
              </a:defRPr>
            </a:pPr>
            <a:r>
              <a:t>😊 Expression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3291840"/>
            <a:ext cx="3200400" cy="18288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888888"/>
                </a:solidFill>
                <a:latin typeface="Arial"/>
              </a:defRPr>
            </a:pPr>
            <a:r>
              <a:t>↔️ Personal Space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77240" y="502920"/>
            <a:ext cx="2011680" cy="5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  <a:latin typeface="Arial"/>
              </a:defRPr>
            </a:pPr>
            <a:r>
              <a:t>Educational Dialogues on Cultural Awareness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7315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5F5F5"/>
                </a:solidFill>
                <a:latin typeface="Arial Black"/>
              </a:defRPr>
            </a:pPr>
            <a:r>
              <a:t>NORMS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5394960" cy="1417320"/>
          </a:xfrm>
          <a:prstGeom prst="roundRect">
            <a:avLst/>
          </a:prstGeom>
          <a:solidFill>
            <a:srgbClr val="2E2E2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27000"/>
          <a:lstStyle/>
          <a:p>
            <a:pPr algn="ctr">
              <a:spcAft>
                <a:spcPts val="600"/>
              </a:spcAft>
              <a:defRPr sz="1100" b="1">
                <a:solidFill>
                  <a:srgbClr val="CCCCCC"/>
                </a:solidFill>
                <a:latin typeface="Arial"/>
              </a:defRPr>
            </a:pPr>
            <a:r>
              <a:t>DEFINITION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Shared rules and expectations that guide behavior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Help societies run smoothly and predictably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246120"/>
            <a:ext cx="5394960" cy="2148840"/>
          </a:xfrm>
          <a:prstGeom prst="roundRect">
            <a:avLst/>
          </a:prstGeom>
          <a:solidFill>
            <a:srgbClr val="2E2E2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27000"/>
          <a:lstStyle/>
          <a:p>
            <a:pPr algn="ctr">
              <a:spcAft>
                <a:spcPts val="600"/>
              </a:spcAft>
              <a:defRPr sz="1100" b="1">
                <a:solidFill>
                  <a:srgbClr val="CCCCCC"/>
                </a:solidFill>
                <a:latin typeface="Arial"/>
              </a:defRPr>
            </a:pPr>
            <a:r>
              <a:t>EXAMPLE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Waiting in line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Saying 'thank you'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806440"/>
            <a:ext cx="7132320" cy="502920"/>
          </a:xfrm>
          <a:prstGeom prst="roundRect">
            <a:avLst/>
          </a:prstGeom>
          <a:solidFill>
            <a:srgbClr val="0A0A0A"/>
          </a:solidFill>
          <a:ln w="127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8E8E8"/>
                </a:solidFill>
                <a:latin typeface="Arial"/>
              </a:defRPr>
            </a:pPr>
            <a:r>
              <a:t>KEY TAKEAWAY: Norms = rules for everyday behavior.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600200"/>
            <a:ext cx="1828800" cy="18288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888888"/>
                </a:solidFill>
                <a:latin typeface="Arial"/>
              </a:defRPr>
            </a:pPr>
            <a:r>
              <a:t>Courtesy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1600200"/>
            <a:ext cx="1371600" cy="18288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888888"/>
                </a:solidFill>
                <a:latin typeface="Arial"/>
              </a:defRPr>
            </a:pPr>
            <a:r>
              <a:t>🚶 Queue Culture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3657600"/>
            <a:ext cx="3474720" cy="164592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888888"/>
                </a:solidFill>
                <a:latin typeface="Arial"/>
              </a:defRPr>
            </a:pPr>
            <a:r>
              <a:t>✓ Expected Conduct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77240" y="502920"/>
            <a:ext cx="2011680" cy="5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  <a:latin typeface="Arial"/>
              </a:defRPr>
            </a:pPr>
            <a:r>
              <a:t>Educational Dialogues on Cultural Awareness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7315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5F5F5"/>
                </a:solidFill>
                <a:latin typeface="Arial Black"/>
              </a:defRPr>
            </a:pPr>
            <a:r>
              <a:t>TYPES OF NORMS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5394960" cy="1417320"/>
          </a:xfrm>
          <a:prstGeom prst="roundRect">
            <a:avLst/>
          </a:prstGeom>
          <a:solidFill>
            <a:srgbClr val="2E2E2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27000"/>
          <a:lstStyle/>
          <a:p>
            <a:pPr algn="ctr">
              <a:spcAft>
                <a:spcPts val="600"/>
              </a:spcAft>
              <a:defRPr sz="1100" b="1">
                <a:solidFill>
                  <a:srgbClr val="CCCCCC"/>
                </a:solidFill>
                <a:latin typeface="Arial"/>
              </a:defRPr>
            </a:pPr>
            <a:r>
              <a:t>DEFINITION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Folkways: everyday customs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Mores: moral expectations · Laws: formal rules · Taboos: strong prohibitions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246120"/>
            <a:ext cx="5394960" cy="2148840"/>
          </a:xfrm>
          <a:prstGeom prst="roundRect">
            <a:avLst/>
          </a:prstGeom>
          <a:solidFill>
            <a:srgbClr val="2E2E2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27000"/>
          <a:lstStyle/>
          <a:p>
            <a:pPr algn="ctr">
              <a:spcAft>
                <a:spcPts val="600"/>
              </a:spcAft>
              <a:defRPr sz="1100" b="1">
                <a:solidFill>
                  <a:srgbClr val="CCCCCC"/>
                </a:solidFill>
                <a:latin typeface="Arial"/>
              </a:defRPr>
            </a:pPr>
            <a:r>
              <a:t>EXAMPLE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Folkway: shaking hands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More: not cheating · Law: speed limits · Taboo: incest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806440"/>
            <a:ext cx="7132320" cy="502920"/>
          </a:xfrm>
          <a:prstGeom prst="roundRect">
            <a:avLst/>
          </a:prstGeom>
          <a:solidFill>
            <a:srgbClr val="0A0A0A"/>
          </a:solidFill>
          <a:ln w="127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8E8E8"/>
                </a:solidFill>
                <a:latin typeface="Arial"/>
              </a:defRPr>
            </a:pPr>
            <a:r>
              <a:t>KEY TAKEAWAY: Not all norms carry the same weight.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600200"/>
            <a:ext cx="1554480" cy="128016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888888"/>
                </a:solidFill>
                <a:latin typeface="Arial"/>
              </a:defRPr>
            </a:pPr>
            <a:r>
              <a:t>🤝 Folkway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600200"/>
            <a:ext cx="1554480" cy="128016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888888"/>
                </a:solidFill>
                <a:latin typeface="Arial"/>
              </a:defRPr>
            </a:pPr>
            <a:r>
              <a:t>⚖️ More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3017520"/>
            <a:ext cx="1554480" cy="128016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888888"/>
                </a:solidFill>
                <a:latin typeface="Arial"/>
              </a:defRPr>
            </a:pPr>
            <a:r>
              <a:t>📜 Law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3017520"/>
            <a:ext cx="1554480" cy="128016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888888"/>
                </a:solidFill>
                <a:latin typeface="Arial"/>
              </a:defRPr>
            </a:pPr>
            <a:r>
              <a:t>🚫 Taboo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77240" y="502920"/>
            <a:ext cx="2011680" cy="5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  <a:latin typeface="Arial"/>
              </a:defRPr>
            </a:pPr>
            <a:r>
              <a:t>Educational Dialogues on Cultural Awareness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7315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5F5F5"/>
                </a:solidFill>
                <a:latin typeface="Arial Black"/>
              </a:defRPr>
            </a:pPr>
            <a:r>
              <a:t>CULTURAL VALUES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5394960" cy="1417320"/>
          </a:xfrm>
          <a:prstGeom prst="roundRect">
            <a:avLst/>
          </a:prstGeom>
          <a:solidFill>
            <a:srgbClr val="2E2E2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27000"/>
          <a:lstStyle/>
          <a:p>
            <a:pPr algn="ctr">
              <a:spcAft>
                <a:spcPts val="600"/>
              </a:spcAft>
              <a:defRPr sz="1100" b="1">
                <a:solidFill>
                  <a:srgbClr val="CCCCCC"/>
                </a:solidFill>
                <a:latin typeface="Arial"/>
              </a:defRPr>
            </a:pPr>
            <a:r>
              <a:t>DEFINITION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Shared ideas about what is good and desirable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Guide priorities, goals, and social choices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246120"/>
            <a:ext cx="5394960" cy="2148840"/>
          </a:xfrm>
          <a:prstGeom prst="roundRect">
            <a:avLst/>
          </a:prstGeom>
          <a:solidFill>
            <a:srgbClr val="2E2E2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27000"/>
          <a:lstStyle/>
          <a:p>
            <a:pPr algn="ctr">
              <a:spcAft>
                <a:spcPts val="600"/>
              </a:spcAft>
              <a:defRPr sz="1100" b="1">
                <a:solidFill>
                  <a:srgbClr val="CCCCCC"/>
                </a:solidFill>
                <a:latin typeface="Arial"/>
              </a:defRPr>
            </a:pPr>
            <a:r>
              <a:t>EXAMPLE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Independence in the United States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Collectivism in many Asian cultures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806440"/>
            <a:ext cx="7132320" cy="502920"/>
          </a:xfrm>
          <a:prstGeom prst="roundRect">
            <a:avLst/>
          </a:prstGeom>
          <a:solidFill>
            <a:srgbClr val="0A0A0A"/>
          </a:solidFill>
          <a:ln w="127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8E8E8"/>
                </a:solidFill>
                <a:latin typeface="Arial"/>
              </a:defRPr>
            </a:pPr>
            <a:r>
              <a:t>KEY TAKEAWAY: Values = ideas about what matters most.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600200"/>
            <a:ext cx="1554480" cy="18288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888888"/>
                </a:solidFill>
                <a:latin typeface="Arial"/>
              </a:defRPr>
            </a:pPr>
            <a:r>
              <a:t>🇺🇸 Individualism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600200"/>
            <a:ext cx="1554480" cy="18288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888888"/>
                </a:solidFill>
                <a:latin typeface="Arial"/>
              </a:defRPr>
            </a:pPr>
            <a:r>
              <a:t>🌏 Collectivism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3657600"/>
            <a:ext cx="3291840" cy="164592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888888"/>
                </a:solidFill>
                <a:latin typeface="Arial"/>
              </a:defRPr>
            </a:pPr>
            <a:r>
              <a:t>⭐ Shared Priorities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77240" y="502920"/>
            <a:ext cx="2011680" cy="5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  <a:latin typeface="Arial"/>
              </a:defRPr>
            </a:pPr>
            <a:r>
              <a:t>Educational Dialogues on Cultural Awareness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7315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5F5F5"/>
                </a:solidFill>
                <a:latin typeface="Arial Black"/>
              </a:defRPr>
            </a:pPr>
            <a:r>
              <a:t>SANCTIONS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5394960" cy="1417320"/>
          </a:xfrm>
          <a:prstGeom prst="roundRect">
            <a:avLst/>
          </a:prstGeom>
          <a:solidFill>
            <a:srgbClr val="2E2E2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27000"/>
          <a:lstStyle/>
          <a:p>
            <a:pPr algn="ctr">
              <a:spcAft>
                <a:spcPts val="600"/>
              </a:spcAft>
              <a:defRPr sz="1100" b="1">
                <a:solidFill>
                  <a:srgbClr val="CCCCCC"/>
                </a:solidFill>
                <a:latin typeface="Arial"/>
              </a:defRPr>
            </a:pPr>
            <a:r>
              <a:t>DEFINITION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Rewards or punishments that enforce norms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Can be positive/negative and formal/informal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246120"/>
            <a:ext cx="5394960" cy="2148840"/>
          </a:xfrm>
          <a:prstGeom prst="roundRect">
            <a:avLst/>
          </a:prstGeom>
          <a:solidFill>
            <a:srgbClr val="2E2E2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27000"/>
          <a:lstStyle/>
          <a:p>
            <a:pPr algn="ctr">
              <a:spcAft>
                <a:spcPts val="600"/>
              </a:spcAft>
              <a:defRPr sz="1100" b="1">
                <a:solidFill>
                  <a:srgbClr val="CCCCCC"/>
                </a:solidFill>
                <a:latin typeface="Arial"/>
              </a:defRPr>
            </a:pPr>
            <a:r>
              <a:t>EXAMPLE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Praise for volunteering (positive informal)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Fine for speeding (negative formal)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806440"/>
            <a:ext cx="7132320" cy="502920"/>
          </a:xfrm>
          <a:prstGeom prst="roundRect">
            <a:avLst/>
          </a:prstGeom>
          <a:solidFill>
            <a:srgbClr val="0A0A0A"/>
          </a:solidFill>
          <a:ln w="127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8E8E8"/>
                </a:solidFill>
                <a:latin typeface="Arial"/>
              </a:defRPr>
            </a:pPr>
            <a:r>
              <a:t>KEY TAKEAWAY: Sanctions reward conformity and discourage violation.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600200"/>
            <a:ext cx="1554480" cy="146304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888888"/>
                </a:solidFill>
                <a:latin typeface="Arial"/>
              </a:defRPr>
            </a:pPr>
            <a:r>
              <a:t>🏆 Positive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600200"/>
            <a:ext cx="1554480" cy="146304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888888"/>
                </a:solidFill>
                <a:latin typeface="Arial"/>
              </a:defRPr>
            </a:pPr>
            <a:r>
              <a:t>⚠️ Negative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3291840"/>
            <a:ext cx="3291840" cy="18288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888888"/>
                </a:solidFill>
                <a:latin typeface="Arial"/>
              </a:defRPr>
            </a:pPr>
            <a:r>
              <a:t>Formal vs Informal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77240" y="502920"/>
            <a:ext cx="2011680" cy="5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  <a:latin typeface="Arial"/>
              </a:defRPr>
            </a:pPr>
            <a:r>
              <a:t>Educational Dialogues on Cultural Awareness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7315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5F5F5"/>
                </a:solidFill>
                <a:latin typeface="Arial Black"/>
              </a:defRPr>
            </a:pPr>
            <a:r>
              <a:t>CULTURE WAR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5394960" cy="1417320"/>
          </a:xfrm>
          <a:prstGeom prst="roundRect">
            <a:avLst/>
          </a:prstGeom>
          <a:solidFill>
            <a:srgbClr val="2E2E2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27000"/>
          <a:lstStyle/>
          <a:p>
            <a:pPr algn="ctr">
              <a:spcAft>
                <a:spcPts val="600"/>
              </a:spcAft>
              <a:defRPr sz="1100" b="1">
                <a:solidFill>
                  <a:srgbClr val="CCCCCC"/>
                </a:solidFill>
                <a:latin typeface="Arial"/>
              </a:defRPr>
            </a:pPr>
            <a:r>
              <a:t>DEFINITION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Conflict over competing values, beliefs, or social issues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Groups fight to define what society should accept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246120"/>
            <a:ext cx="5394960" cy="2148840"/>
          </a:xfrm>
          <a:prstGeom prst="roundRect">
            <a:avLst/>
          </a:prstGeom>
          <a:solidFill>
            <a:srgbClr val="2E2E2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27000"/>
          <a:lstStyle/>
          <a:p>
            <a:pPr algn="ctr">
              <a:spcAft>
                <a:spcPts val="600"/>
              </a:spcAft>
              <a:defRPr sz="1100" b="1">
                <a:solidFill>
                  <a:srgbClr val="CCCCCC"/>
                </a:solidFill>
                <a:latin typeface="Arial"/>
              </a:defRPr>
            </a:pPr>
            <a:r>
              <a:t>EXAMPLE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Debates over abortion, same-sex marriage, school curricula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806440"/>
            <a:ext cx="7132320" cy="502920"/>
          </a:xfrm>
          <a:prstGeom prst="roundRect">
            <a:avLst/>
          </a:prstGeom>
          <a:solidFill>
            <a:srgbClr val="0A0A0A"/>
          </a:solidFill>
          <a:ln w="127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8E8E8"/>
                </a:solidFill>
                <a:latin typeface="Arial"/>
              </a:defRPr>
            </a:pPr>
            <a:r>
              <a:t>KEY TAKEAWAY: Deep value clashes can divide communities.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600200"/>
            <a:ext cx="3291840" cy="201168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888888"/>
                </a:solidFill>
                <a:latin typeface="Arial"/>
              </a:defRPr>
            </a:pPr>
            <a:r>
              <a:t>⚔️ Competing Values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3840480"/>
            <a:ext cx="3291840" cy="18288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888888"/>
                </a:solidFill>
                <a:latin typeface="Arial"/>
              </a:defRPr>
            </a:pPr>
            <a:r>
              <a:t>📢 Public Debate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77240" y="502920"/>
            <a:ext cx="2011680" cy="5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  <a:latin typeface="Arial"/>
              </a:defRPr>
            </a:pPr>
            <a:r>
              <a:t>Educational Dialogues on Cultural Awareness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7315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5F5F5"/>
                </a:solidFill>
                <a:latin typeface="Arial Black"/>
              </a:defRPr>
            </a:pPr>
            <a:r>
              <a:t>DOMINANT IDEOLOGY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5394960" cy="1417320"/>
          </a:xfrm>
          <a:prstGeom prst="roundRect">
            <a:avLst/>
          </a:prstGeom>
          <a:solidFill>
            <a:srgbClr val="2E2E2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27000"/>
          <a:lstStyle/>
          <a:p>
            <a:pPr algn="ctr">
              <a:spcAft>
                <a:spcPts val="600"/>
              </a:spcAft>
              <a:defRPr sz="1100" b="1">
                <a:solidFill>
                  <a:srgbClr val="CCCCCC"/>
                </a:solidFill>
                <a:latin typeface="Arial"/>
              </a:defRPr>
            </a:pPr>
            <a:r>
              <a:t>DEFINITION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Beliefs promoted by the most powerful groups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Often accepted as 'normal' or common sense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246120"/>
            <a:ext cx="5394960" cy="2148840"/>
          </a:xfrm>
          <a:prstGeom prst="roundRect">
            <a:avLst/>
          </a:prstGeom>
          <a:solidFill>
            <a:srgbClr val="2E2E2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27000"/>
          <a:lstStyle/>
          <a:p>
            <a:pPr algn="ctr">
              <a:spcAft>
                <a:spcPts val="600"/>
              </a:spcAft>
              <a:defRPr sz="1100" b="1">
                <a:solidFill>
                  <a:srgbClr val="CCCCCC"/>
                </a:solidFill>
                <a:latin typeface="Arial"/>
              </a:defRPr>
            </a:pPr>
            <a:r>
              <a:t>EXAMPLE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The 'American Dream': hard work leads to success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806440"/>
            <a:ext cx="7132320" cy="502920"/>
          </a:xfrm>
          <a:prstGeom prst="roundRect">
            <a:avLst/>
          </a:prstGeom>
          <a:solidFill>
            <a:srgbClr val="0A0A0A"/>
          </a:solidFill>
          <a:ln w="127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8E8E8"/>
                </a:solidFill>
                <a:latin typeface="Arial"/>
              </a:defRPr>
            </a:pPr>
            <a:r>
              <a:t>KEY TAKEAWAY: Power shapes which ideas feel 'natural.'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600200"/>
            <a:ext cx="3291840" cy="18288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888888"/>
                </a:solidFill>
                <a:latin typeface="Arial"/>
              </a:defRPr>
            </a:pPr>
            <a:r>
              <a:t>🏛️ Power &amp; Ideas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3657600"/>
            <a:ext cx="3291840" cy="18288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888888"/>
                </a:solidFill>
                <a:latin typeface="Arial"/>
              </a:defRPr>
            </a:pPr>
            <a:r>
              <a:t>📈 Merit Narrative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77240" y="502920"/>
            <a:ext cx="2011680" cy="5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  <a:latin typeface="Arial"/>
              </a:defRPr>
            </a:pPr>
            <a:r>
              <a:t>Educational Dialogues on Cultural Awareness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7315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5F5F5"/>
                </a:solidFill>
                <a:latin typeface="Arial Black"/>
              </a:defRPr>
            </a:pPr>
            <a:r>
              <a:t>CULTURAL VARIATION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5394960" cy="1417320"/>
          </a:xfrm>
          <a:prstGeom prst="roundRect">
            <a:avLst/>
          </a:prstGeom>
          <a:solidFill>
            <a:srgbClr val="2E2E2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27000"/>
          <a:lstStyle/>
          <a:p>
            <a:pPr algn="ctr">
              <a:spcAft>
                <a:spcPts val="600"/>
              </a:spcAft>
              <a:defRPr sz="1100" b="1">
                <a:solidFill>
                  <a:srgbClr val="CCCCCC"/>
                </a:solidFill>
                <a:latin typeface="Arial"/>
              </a:defRPr>
            </a:pPr>
            <a:r>
              <a:t>DEFINITION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Differences in beliefs, customs, and behaviors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Appear among societies and within them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246120"/>
            <a:ext cx="5394960" cy="2148840"/>
          </a:xfrm>
          <a:prstGeom prst="roundRect">
            <a:avLst/>
          </a:prstGeom>
          <a:solidFill>
            <a:srgbClr val="2E2E2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27000"/>
          <a:lstStyle/>
          <a:p>
            <a:pPr algn="ctr">
              <a:spcAft>
                <a:spcPts val="600"/>
              </a:spcAft>
              <a:defRPr sz="1100" b="1">
                <a:solidFill>
                  <a:srgbClr val="CCCCCC"/>
                </a:solidFill>
                <a:latin typeface="Arial"/>
              </a:defRPr>
            </a:pPr>
            <a:r>
              <a:t>EXAMPLE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Eating with chopsticks vs. forks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Regional accents, dress, and traditions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806440"/>
            <a:ext cx="7132320" cy="502920"/>
          </a:xfrm>
          <a:prstGeom prst="roundRect">
            <a:avLst/>
          </a:prstGeom>
          <a:solidFill>
            <a:srgbClr val="0A0A0A"/>
          </a:solidFill>
          <a:ln w="127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8E8E8"/>
                </a:solidFill>
                <a:latin typeface="Arial"/>
              </a:defRPr>
            </a:pPr>
            <a:r>
              <a:t>KEY TAKEAWAY: Variation is normal — not a defect.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600200"/>
            <a:ext cx="1554480" cy="164592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888888"/>
                </a:solidFill>
                <a:latin typeface="Arial"/>
              </a:defRPr>
            </a:pPr>
            <a:r>
              <a:t>🥢 Chopsticks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600200"/>
            <a:ext cx="1554480" cy="164592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888888"/>
                </a:solidFill>
                <a:latin typeface="Arial"/>
              </a:defRPr>
            </a:pPr>
            <a:r>
              <a:t>🍴 Fork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3474720"/>
            <a:ext cx="3291840" cy="164592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888888"/>
                </a:solidFill>
                <a:latin typeface="Arial"/>
              </a:defRPr>
            </a:pPr>
            <a:r>
              <a:t>🗺️ Global Differences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77240" y="502920"/>
            <a:ext cx="2011680" cy="5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  <a:latin typeface="Arial"/>
              </a:defRPr>
            </a:pPr>
            <a:r>
              <a:t>Educational Dialogues on Cultural Awareness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7315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5F5F5"/>
                </a:solidFill>
                <a:latin typeface="Arial Black"/>
              </a:defRPr>
            </a:pPr>
            <a:r>
              <a:t>SUBCULTURE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5394960" cy="1417320"/>
          </a:xfrm>
          <a:prstGeom prst="roundRect">
            <a:avLst/>
          </a:prstGeom>
          <a:solidFill>
            <a:srgbClr val="2E2E2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27000"/>
          <a:lstStyle/>
          <a:p>
            <a:pPr algn="ctr">
              <a:spcAft>
                <a:spcPts val="600"/>
              </a:spcAft>
              <a:defRPr sz="1100" b="1">
                <a:solidFill>
                  <a:srgbClr val="CCCCCC"/>
                </a:solidFill>
                <a:latin typeface="Arial"/>
              </a:defRPr>
            </a:pPr>
            <a:r>
              <a:t>DEFINITION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Distinct beliefs/behaviors within a larger culture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Different — but still compatible with mainstream society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246120"/>
            <a:ext cx="5394960" cy="2148840"/>
          </a:xfrm>
          <a:prstGeom prst="roundRect">
            <a:avLst/>
          </a:prstGeom>
          <a:solidFill>
            <a:srgbClr val="2E2E2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27000"/>
          <a:lstStyle/>
          <a:p>
            <a:pPr algn="ctr">
              <a:spcAft>
                <a:spcPts val="600"/>
              </a:spcAft>
              <a:defRPr sz="1100" b="1">
                <a:solidFill>
                  <a:srgbClr val="CCCCCC"/>
                </a:solidFill>
                <a:latin typeface="Arial"/>
              </a:defRPr>
            </a:pPr>
            <a:r>
              <a:t>EXAMPLE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Gamers, skateboarders, medical students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806440"/>
            <a:ext cx="7132320" cy="502920"/>
          </a:xfrm>
          <a:prstGeom prst="roundRect">
            <a:avLst/>
          </a:prstGeom>
          <a:solidFill>
            <a:srgbClr val="0A0A0A"/>
          </a:solidFill>
          <a:ln w="127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8E8E8"/>
                </a:solidFill>
                <a:latin typeface="Arial"/>
              </a:defRPr>
            </a:pPr>
            <a:r>
              <a:t>KEY TAKEAWAY: Sub = under the umbrella of the larger culture.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600200"/>
            <a:ext cx="1554480" cy="13716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888888"/>
                </a:solidFill>
                <a:latin typeface="Arial"/>
              </a:defRPr>
            </a:pPr>
            <a:r>
              <a:t>🎮 Gamers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600200"/>
            <a:ext cx="1554480" cy="13716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888888"/>
                </a:solidFill>
                <a:latin typeface="Arial"/>
              </a:defRPr>
            </a:pPr>
            <a:r>
              <a:t>🛹 Skaters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3200400"/>
            <a:ext cx="3291840" cy="201168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888888"/>
                </a:solidFill>
                <a:latin typeface="Arial"/>
              </a:defRPr>
            </a:pPr>
            <a:r>
              <a:t>☂️ Mainstream Umbrella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77240" y="502920"/>
            <a:ext cx="2011680" cy="5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  <a:latin typeface="Arial"/>
              </a:defRPr>
            </a:pPr>
            <a:r>
              <a:t>Educational Dialogues on Cultural Awareness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7315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5F5F5"/>
                </a:solidFill>
                <a:latin typeface="Arial Black"/>
              </a:defRPr>
            </a:pPr>
            <a:r>
              <a:t>COUNTERCULTURE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5394960" cy="1417320"/>
          </a:xfrm>
          <a:prstGeom prst="roundRect">
            <a:avLst/>
          </a:prstGeom>
          <a:solidFill>
            <a:srgbClr val="2E2E2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27000"/>
          <a:lstStyle/>
          <a:p>
            <a:pPr algn="ctr">
              <a:spcAft>
                <a:spcPts val="600"/>
              </a:spcAft>
              <a:defRPr sz="1100" b="1">
                <a:solidFill>
                  <a:srgbClr val="CCCCCC"/>
                </a:solidFill>
                <a:latin typeface="Arial"/>
              </a:defRPr>
            </a:pPr>
            <a:r>
              <a:t>DEFINITION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Values and norms that challenge dominant culture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Actively reject or oppose mainstream ideals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246120"/>
            <a:ext cx="5394960" cy="2148840"/>
          </a:xfrm>
          <a:prstGeom prst="roundRect">
            <a:avLst/>
          </a:prstGeom>
          <a:solidFill>
            <a:srgbClr val="2E2E2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27000"/>
          <a:lstStyle/>
          <a:p>
            <a:pPr algn="ctr">
              <a:spcAft>
                <a:spcPts val="600"/>
              </a:spcAft>
              <a:defRPr sz="1100" b="1">
                <a:solidFill>
                  <a:srgbClr val="CCCCCC"/>
                </a:solidFill>
                <a:latin typeface="Arial"/>
              </a:defRPr>
            </a:pPr>
            <a:r>
              <a:t>EXAMPLE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1960s hippie movement rejecting consumerism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806440"/>
            <a:ext cx="7132320" cy="502920"/>
          </a:xfrm>
          <a:prstGeom prst="roundRect">
            <a:avLst/>
          </a:prstGeom>
          <a:solidFill>
            <a:srgbClr val="0A0A0A"/>
          </a:solidFill>
          <a:ln w="127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8E8E8"/>
                </a:solidFill>
                <a:latin typeface="Arial"/>
              </a:defRPr>
            </a:pPr>
            <a:r>
              <a:t>KEY TAKEAWAY: Counter = against the dominant culture.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600200"/>
            <a:ext cx="3291840" cy="201168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888888"/>
                </a:solidFill>
                <a:latin typeface="Arial"/>
              </a:defRPr>
            </a:pPr>
            <a:r>
              <a:t>✌️ 1960s Movement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3840480"/>
            <a:ext cx="3291840" cy="18288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888888"/>
                </a:solidFill>
                <a:latin typeface="Arial"/>
              </a:defRPr>
            </a:pPr>
            <a:r>
              <a:t>🔄 Reject Mainstream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77240" y="502920"/>
            <a:ext cx="2011680" cy="5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  <a:latin typeface="Arial"/>
              </a:defRPr>
            </a:pPr>
            <a:r>
              <a:t>Educational Dialogues on Cultural Awareness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7315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5F5F5"/>
                </a:solidFill>
                <a:latin typeface="Arial Black"/>
              </a:defRPr>
            </a:pPr>
            <a:r>
              <a:t>CULTURE SHOCK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5394960" cy="1417320"/>
          </a:xfrm>
          <a:prstGeom prst="roundRect">
            <a:avLst/>
          </a:prstGeom>
          <a:solidFill>
            <a:srgbClr val="2E2E2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27000"/>
          <a:lstStyle/>
          <a:p>
            <a:pPr algn="ctr">
              <a:spcAft>
                <a:spcPts val="600"/>
              </a:spcAft>
              <a:defRPr sz="1100" b="1">
                <a:solidFill>
                  <a:srgbClr val="CCCCCC"/>
                </a:solidFill>
                <a:latin typeface="Arial"/>
              </a:defRPr>
            </a:pPr>
            <a:r>
              <a:t>DEFINITION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Confusion, anxiety, or disorientation in a new culture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Common when customs and cues feel unfamiliar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246120"/>
            <a:ext cx="5394960" cy="2148840"/>
          </a:xfrm>
          <a:prstGeom prst="roundRect">
            <a:avLst/>
          </a:prstGeom>
          <a:solidFill>
            <a:srgbClr val="2E2E2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27000"/>
          <a:lstStyle/>
          <a:p>
            <a:pPr algn="ctr">
              <a:spcAft>
                <a:spcPts val="600"/>
              </a:spcAft>
              <a:defRPr sz="1100" b="1">
                <a:solidFill>
                  <a:srgbClr val="CCCCCC"/>
                </a:solidFill>
                <a:latin typeface="Arial"/>
              </a:defRPr>
            </a:pPr>
            <a:r>
              <a:t>EXAMPLE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Krystal adjusting from Los Angeles to the Southern U.S.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New accents, pace, food, and social expectations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806440"/>
            <a:ext cx="7132320" cy="502920"/>
          </a:xfrm>
          <a:prstGeom prst="roundRect">
            <a:avLst/>
          </a:prstGeom>
          <a:solidFill>
            <a:srgbClr val="0A0A0A"/>
          </a:solidFill>
          <a:ln w="127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8E8E8"/>
                </a:solidFill>
                <a:latin typeface="Arial"/>
              </a:defRPr>
            </a:pPr>
            <a:r>
              <a:t>KEY TAKEAWAY: Adaptation takes time — discomfort is part of learning.</a:t>
            </a:r>
          </a:p>
        </p:txBody>
      </p:sp>
      <p:pic>
        <p:nvPicPr>
          <p:cNvPr id="9" name="Picture 8" descr="migration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600200"/>
            <a:ext cx="3291840" cy="18288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0" y="3657600"/>
            <a:ext cx="3291840" cy="18288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888888"/>
                </a:solidFill>
                <a:latin typeface="Arial"/>
              </a:defRPr>
            </a:pPr>
            <a:r>
              <a:t>✈️ Transition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77240" y="502920"/>
            <a:ext cx="2011680" cy="5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  <a:latin typeface="Arial"/>
              </a:defRPr>
            </a:pPr>
            <a:r>
              <a:t>Educational Dialogues on Cultural Awareness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7315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5F5F5"/>
                </a:solidFill>
                <a:latin typeface="Arial Black"/>
              </a:defRPr>
            </a:pPr>
            <a:r>
              <a:t>INNOVATION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5394960" cy="1417320"/>
          </a:xfrm>
          <a:prstGeom prst="roundRect">
            <a:avLst/>
          </a:prstGeom>
          <a:solidFill>
            <a:srgbClr val="2E2E2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27000"/>
          <a:lstStyle/>
          <a:p>
            <a:pPr algn="ctr">
              <a:spcAft>
                <a:spcPts val="600"/>
              </a:spcAft>
              <a:defRPr sz="1100" b="1">
                <a:solidFill>
                  <a:srgbClr val="CCCCCC"/>
                </a:solidFill>
                <a:latin typeface="Arial"/>
              </a:defRPr>
            </a:pPr>
            <a:r>
              <a:t>DEFINITION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Creation of new ideas, technologies, or practices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Can reshape how societies live and communicate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246120"/>
            <a:ext cx="5394960" cy="2148840"/>
          </a:xfrm>
          <a:prstGeom prst="roundRect">
            <a:avLst/>
          </a:prstGeom>
          <a:solidFill>
            <a:srgbClr val="2E2E2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27000"/>
          <a:lstStyle/>
          <a:p>
            <a:pPr algn="ctr">
              <a:spcAft>
                <a:spcPts val="600"/>
              </a:spcAft>
              <a:defRPr sz="1100" b="1">
                <a:solidFill>
                  <a:srgbClr val="CCCCCC"/>
                </a:solidFill>
                <a:latin typeface="Arial"/>
              </a:defRPr>
            </a:pPr>
            <a:r>
              <a:t>EXAMPLE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Smartphones and social media platforms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806440"/>
            <a:ext cx="7132320" cy="502920"/>
          </a:xfrm>
          <a:prstGeom prst="roundRect">
            <a:avLst/>
          </a:prstGeom>
          <a:solidFill>
            <a:srgbClr val="0A0A0A"/>
          </a:solidFill>
          <a:ln w="127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8E8E8"/>
                </a:solidFill>
                <a:latin typeface="Arial"/>
              </a:defRPr>
            </a:pPr>
            <a:r>
              <a:t>KEY TAKEAWAY: Innovation = creating something new.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600200"/>
            <a:ext cx="1645920" cy="18288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888888"/>
                </a:solidFill>
                <a:latin typeface="Arial"/>
              </a:defRPr>
            </a:pPr>
            <a:r>
              <a:t>📱 Smartphones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1600200"/>
            <a:ext cx="1371600" cy="18288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888888"/>
                </a:solidFill>
                <a:latin typeface="Arial"/>
              </a:defRPr>
            </a:pPr>
            <a:r>
              <a:t>💡 New Ideas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3657600"/>
            <a:ext cx="3291840" cy="164592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888888"/>
                </a:solidFill>
                <a:latin typeface="Arial"/>
              </a:defRPr>
            </a:pPr>
            <a:r>
              <a:t>🚀 Cultural Change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77240" y="502920"/>
            <a:ext cx="2011680" cy="5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  <a:latin typeface="Arial"/>
              </a:defRPr>
            </a:pPr>
            <a:r>
              <a:t>Educational Dialogues on Cultural Awareness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7315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5F5F5"/>
                </a:solidFill>
                <a:latin typeface="Arial Black"/>
              </a:defRPr>
            </a:pPr>
            <a:r>
              <a:t>DIFFUSION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5394960" cy="1417320"/>
          </a:xfrm>
          <a:prstGeom prst="roundRect">
            <a:avLst/>
          </a:prstGeom>
          <a:solidFill>
            <a:srgbClr val="2E2E2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27000"/>
          <a:lstStyle/>
          <a:p>
            <a:pPr algn="ctr">
              <a:spcAft>
                <a:spcPts val="600"/>
              </a:spcAft>
              <a:defRPr sz="1100" b="1">
                <a:solidFill>
                  <a:srgbClr val="CCCCCC"/>
                </a:solidFill>
                <a:latin typeface="Arial"/>
              </a:defRPr>
            </a:pPr>
            <a:r>
              <a:t>DEFINITION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Spread of cultural traits across societies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Ideas, foods, and styles travel through contact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246120"/>
            <a:ext cx="5394960" cy="2148840"/>
          </a:xfrm>
          <a:prstGeom prst="roundRect">
            <a:avLst/>
          </a:prstGeom>
          <a:solidFill>
            <a:srgbClr val="2E2E2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27000"/>
          <a:lstStyle/>
          <a:p>
            <a:pPr algn="ctr">
              <a:spcAft>
                <a:spcPts val="600"/>
              </a:spcAft>
              <a:defRPr sz="1100" b="1">
                <a:solidFill>
                  <a:srgbClr val="CCCCCC"/>
                </a:solidFill>
                <a:latin typeface="Arial"/>
              </a:defRPr>
            </a:pPr>
            <a:r>
              <a:t>EXAMPLE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Sushi becoming popular worldwide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806440"/>
            <a:ext cx="7132320" cy="502920"/>
          </a:xfrm>
          <a:prstGeom prst="roundRect">
            <a:avLst/>
          </a:prstGeom>
          <a:solidFill>
            <a:srgbClr val="0A0A0A"/>
          </a:solidFill>
          <a:ln w="127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8E8E8"/>
                </a:solidFill>
                <a:latin typeface="Arial"/>
              </a:defRPr>
            </a:pPr>
            <a:r>
              <a:t>KEY TAKEAWAY: Diffusion = spreading what already exists.</a:t>
            </a:r>
          </a:p>
        </p:txBody>
      </p:sp>
      <p:pic>
        <p:nvPicPr>
          <p:cNvPr id="9" name="Picture 8" descr="sush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600200"/>
            <a:ext cx="3291840" cy="1828800"/>
          </a:xfrm>
          <a:prstGeom prst="rect">
            <a:avLst/>
          </a:prstGeom>
        </p:spPr>
      </p:pic>
      <p:pic>
        <p:nvPicPr>
          <p:cNvPr id="10" name="Picture 9" descr="world_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3657600"/>
            <a:ext cx="329184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77240" y="502920"/>
            <a:ext cx="2011680" cy="5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  <a:latin typeface="Arial"/>
              </a:defRPr>
            </a:pPr>
            <a:r>
              <a:t>Educational Dialogues on Cultural Awareness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5F5F5"/>
                </a:solidFill>
                <a:latin typeface="Arial Black"/>
              </a:defRPr>
            </a:pPr>
            <a:r>
              <a:t>MATERIAL VS. NON-MATERIAL CULTURE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5029200" cy="1828800"/>
          </a:xfrm>
          <a:prstGeom prst="roundRect">
            <a:avLst/>
          </a:prstGeom>
          <a:solidFill>
            <a:srgbClr val="2E2E2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27000"/>
          <a:lstStyle/>
          <a:p>
            <a:pPr algn="ctr">
              <a:spcAft>
                <a:spcPts val="600"/>
              </a:spcAft>
              <a:defRPr sz="1100" b="1">
                <a:solidFill>
                  <a:srgbClr val="CCCCCC"/>
                </a:solidFill>
                <a:latin typeface="Arial"/>
              </a:defRPr>
            </a:pPr>
            <a:r>
              <a:t>MATERIAL CULTURE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Physical objects and technology created by society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Buildings, clothing, cars, Cherokee stone tools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703320"/>
            <a:ext cx="5029200" cy="1828800"/>
          </a:xfrm>
          <a:prstGeom prst="roundRect">
            <a:avLst/>
          </a:prstGeom>
          <a:solidFill>
            <a:srgbClr val="2E2E2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27000"/>
          <a:lstStyle/>
          <a:p>
            <a:pPr algn="ctr">
              <a:spcAft>
                <a:spcPts val="600"/>
              </a:spcAft>
              <a:defRPr sz="1100" b="1">
                <a:solidFill>
                  <a:srgbClr val="CCCCCC"/>
                </a:solidFill>
                <a:latin typeface="Arial"/>
              </a:defRPr>
            </a:pPr>
            <a:r>
              <a:t>NON-MATERIAL CULTURE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Intangible beliefs, values, norms, and traditions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Religion, Pentecostal beliefs, laws, morals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806440"/>
            <a:ext cx="7132320" cy="502920"/>
          </a:xfrm>
          <a:prstGeom prst="roundRect">
            <a:avLst/>
          </a:prstGeom>
          <a:solidFill>
            <a:srgbClr val="0A0A0A"/>
          </a:solidFill>
          <a:ln w="127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8E8E8"/>
                </a:solidFill>
                <a:latin typeface="Arial"/>
              </a:defRPr>
            </a:pPr>
            <a:r>
              <a:t>KEY TAKEAWAY: Objects vs. ideas — both carry culture.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91640"/>
            <a:ext cx="1645920" cy="164592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888888"/>
                </a:solidFill>
                <a:latin typeface="Arial"/>
              </a:defRPr>
            </a:pPr>
            <a:r>
              <a:t>🪓 Stone Axe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91640"/>
            <a:ext cx="1645920" cy="164592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888888"/>
                </a:solidFill>
                <a:latin typeface="Arial"/>
              </a:defRPr>
            </a:pPr>
            <a:r>
              <a:t>🏠 Buildings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703320"/>
            <a:ext cx="1645920" cy="164592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888888"/>
                </a:solidFill>
                <a:latin typeface="Arial"/>
              </a:defRPr>
            </a:pPr>
            <a:r>
              <a:t>⛪ Beliefs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703320"/>
            <a:ext cx="1645920" cy="164592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888888"/>
                </a:solidFill>
                <a:latin typeface="Arial"/>
              </a:defRPr>
            </a:pPr>
            <a:r>
              <a:t>📖 Traditions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77240" y="502920"/>
            <a:ext cx="2011680" cy="5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  <a:latin typeface="Arial"/>
              </a:defRPr>
            </a:pPr>
            <a:r>
              <a:t>Educational Dialogues on Cultural Awareness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7315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5F5F5"/>
                </a:solidFill>
                <a:latin typeface="Arial Black"/>
              </a:defRPr>
            </a:pPr>
            <a:r>
              <a:t>CULTURAL LAG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5394960" cy="1417320"/>
          </a:xfrm>
          <a:prstGeom prst="roundRect">
            <a:avLst/>
          </a:prstGeom>
          <a:solidFill>
            <a:srgbClr val="2E2E2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27000"/>
          <a:lstStyle/>
          <a:p>
            <a:pPr algn="ctr">
              <a:spcAft>
                <a:spcPts val="600"/>
              </a:spcAft>
              <a:defRPr sz="1100" b="1">
                <a:solidFill>
                  <a:srgbClr val="CCCCCC"/>
                </a:solidFill>
                <a:latin typeface="Arial"/>
              </a:defRPr>
            </a:pPr>
            <a:r>
              <a:t>DEFINITION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Non-material culture adapts slower than material culture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Laws and ethics trail behind new technology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246120"/>
            <a:ext cx="5394960" cy="2148840"/>
          </a:xfrm>
          <a:prstGeom prst="roundRect">
            <a:avLst/>
          </a:prstGeom>
          <a:solidFill>
            <a:srgbClr val="2E2E2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27000"/>
          <a:lstStyle/>
          <a:p>
            <a:pPr algn="ctr">
              <a:spcAft>
                <a:spcPts val="600"/>
              </a:spcAft>
              <a:defRPr sz="1100" b="1">
                <a:solidFill>
                  <a:srgbClr val="CCCCCC"/>
                </a:solidFill>
                <a:latin typeface="Arial"/>
              </a:defRPr>
            </a:pPr>
            <a:r>
              <a:t>EXAMPLE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AI and gene editing outpacing regulation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Society debates ethics while tech advances quickly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806440"/>
            <a:ext cx="7132320" cy="502920"/>
          </a:xfrm>
          <a:prstGeom prst="roundRect">
            <a:avLst/>
          </a:prstGeom>
          <a:solidFill>
            <a:srgbClr val="0A0A0A"/>
          </a:solidFill>
          <a:ln w="127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8E8E8"/>
                </a:solidFill>
                <a:latin typeface="Arial"/>
              </a:defRPr>
            </a:pPr>
            <a:r>
              <a:t>KEY TAKEAWAY: Society's values and laws lag behind technology.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600200"/>
            <a:ext cx="1645920" cy="164592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888888"/>
                </a:solidFill>
                <a:latin typeface="Arial"/>
              </a:defRPr>
            </a:pPr>
            <a:r>
              <a:t>🤖 AI Ethics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1600200"/>
            <a:ext cx="1645920" cy="164592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888888"/>
                </a:solidFill>
                <a:latin typeface="Arial"/>
              </a:defRPr>
            </a:pPr>
            <a:r>
              <a:t>🧬 Gene Editing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3474720"/>
            <a:ext cx="3474720" cy="18288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888888"/>
                </a:solidFill>
                <a:latin typeface="Arial"/>
              </a:defRPr>
            </a:pPr>
            <a:r>
              <a:t>⏳ The Gap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77240" y="502920"/>
            <a:ext cx="2011680" cy="5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  <a:latin typeface="Arial"/>
              </a:defRPr>
            </a:pPr>
            <a:r>
              <a:t>Educational Dialogues on Cultural Awareness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5F5F5"/>
                </a:solidFill>
                <a:latin typeface="Arial Black"/>
              </a:defRPr>
            </a:pPr>
            <a:r>
              <a:t>HIGH-YIELD DISTINCTIONS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10058400" cy="438912"/>
          </a:xfrm>
          <a:prstGeom prst="roundRect">
            <a:avLst/>
          </a:prstGeom>
          <a:solidFill>
            <a:srgbClr val="1A1A1A"/>
          </a:solidFill>
          <a:ln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5F5F5"/>
                </a:solidFill>
                <a:latin typeface="Arial"/>
              </a:defRPr>
            </a:pPr>
            <a:r>
              <a:t>Ethnocentrism  →  My culture is the standard.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011680"/>
            <a:ext cx="10058400" cy="438912"/>
          </a:xfrm>
          <a:prstGeom prst="roundRect">
            <a:avLst/>
          </a:prstGeom>
          <a:solidFill>
            <a:srgbClr val="1A1A1A"/>
          </a:solidFill>
          <a:ln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5F5F5"/>
                </a:solidFill>
                <a:latin typeface="Arial"/>
              </a:defRPr>
            </a:pPr>
            <a:r>
              <a:t>Cultural Relativism  →  Understand by its own standards.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14600"/>
            <a:ext cx="10058400" cy="438912"/>
          </a:xfrm>
          <a:prstGeom prst="roundRect">
            <a:avLst/>
          </a:prstGeom>
          <a:solidFill>
            <a:srgbClr val="1A1A1A"/>
          </a:solidFill>
          <a:ln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5F5F5"/>
                </a:solidFill>
                <a:latin typeface="Arial"/>
              </a:defRPr>
            </a:pPr>
            <a:r>
              <a:t>Subculture  →  Different but compatible.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017520"/>
            <a:ext cx="10058400" cy="438912"/>
          </a:xfrm>
          <a:prstGeom prst="roundRect">
            <a:avLst/>
          </a:prstGeom>
          <a:solidFill>
            <a:srgbClr val="1A1A1A"/>
          </a:solidFill>
          <a:ln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5F5F5"/>
                </a:solidFill>
                <a:latin typeface="Arial"/>
              </a:defRPr>
            </a:pPr>
            <a:r>
              <a:t>Counterculture  →  Challenges mainstream society.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520439"/>
            <a:ext cx="10058400" cy="438912"/>
          </a:xfrm>
          <a:prstGeom prst="roundRect">
            <a:avLst/>
          </a:prstGeom>
          <a:solidFill>
            <a:srgbClr val="1A1A1A"/>
          </a:solidFill>
          <a:ln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5F5F5"/>
                </a:solidFill>
                <a:latin typeface="Arial"/>
              </a:defRPr>
            </a:pPr>
            <a:r>
              <a:t>Innovation  →  Creating something new.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23359"/>
            <a:ext cx="10058400" cy="438912"/>
          </a:xfrm>
          <a:prstGeom prst="roundRect">
            <a:avLst/>
          </a:prstGeom>
          <a:solidFill>
            <a:srgbClr val="1A1A1A"/>
          </a:solidFill>
          <a:ln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5F5F5"/>
                </a:solidFill>
                <a:latin typeface="Arial"/>
              </a:defRPr>
            </a:pPr>
            <a:r>
              <a:t>Diffusion  →  Spreading what exists.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526279"/>
            <a:ext cx="10058400" cy="438912"/>
          </a:xfrm>
          <a:prstGeom prst="roundRect">
            <a:avLst/>
          </a:prstGeom>
          <a:solidFill>
            <a:srgbClr val="1A1A1A"/>
          </a:solidFill>
          <a:ln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5F5F5"/>
                </a:solidFill>
                <a:latin typeface="Arial"/>
              </a:defRPr>
            </a:pPr>
            <a:r>
              <a:t>Norms  →  Rules for behavior.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029199"/>
            <a:ext cx="10058400" cy="438912"/>
          </a:xfrm>
          <a:prstGeom prst="roundRect">
            <a:avLst/>
          </a:prstGeom>
          <a:solidFill>
            <a:srgbClr val="1A1A1A"/>
          </a:solidFill>
          <a:ln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5F5F5"/>
                </a:solidFill>
                <a:latin typeface="Arial"/>
              </a:defRPr>
            </a:pPr>
            <a:r>
              <a:t>Values  →  Ideas about importance.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532119"/>
            <a:ext cx="10058400" cy="438912"/>
          </a:xfrm>
          <a:prstGeom prst="roundRect">
            <a:avLst/>
          </a:prstGeom>
          <a:solidFill>
            <a:srgbClr val="1A1A1A"/>
          </a:solidFill>
          <a:ln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5F5F5"/>
                </a:solidFill>
                <a:latin typeface="Arial"/>
              </a:defRPr>
            </a:pPr>
            <a:r>
              <a:t>Sanctions  →  Rewards and punishments.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77240" y="502920"/>
            <a:ext cx="2011680" cy="5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  <a:latin typeface="Arial"/>
              </a:defRPr>
            </a:pPr>
            <a:r>
              <a:t>Educational Dialogues on Cultural Awareness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F5F5F5"/>
                </a:solidFill>
                <a:latin typeface="Arial Black"/>
              </a:defRPr>
            </a:pPr>
            <a:r>
              <a:t>SUMMARY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10058400" cy="2011680"/>
          </a:xfrm>
          <a:prstGeom prst="roundRect">
            <a:avLst/>
          </a:prstGeom>
          <a:solidFill>
            <a:srgbClr val="2E2E2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27000"/>
          <a:lstStyle/>
          <a:p>
            <a:pPr algn="ctr">
              <a:spcAft>
                <a:spcPts val="600"/>
              </a:spcAft>
              <a:defRPr sz="1100" b="1">
                <a:solidFill>
                  <a:srgbClr val="CCCCCC"/>
                </a:solidFill>
                <a:latin typeface="Arial"/>
              </a:defRPr>
            </a:pPr>
            <a:r>
              <a:t>MAJOR CONCEPTS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Culture shapes identity through shared symbols, norms, and values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Awareness requires cultural relativism over ethnocentrism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Subcultures, countercultures, and variation show culture's complexity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Innovation, diffusion, and cultural lag explain how culture changes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840480"/>
            <a:ext cx="10058400" cy="1371600"/>
          </a:xfrm>
          <a:prstGeom prst="roundRect">
            <a:avLst/>
          </a:prstGeom>
          <a:solidFill>
            <a:srgbClr val="2E2E2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27000"/>
          <a:lstStyle/>
          <a:p>
            <a:pPr algn="ctr">
              <a:spcAft>
                <a:spcPts val="600"/>
              </a:spcAft>
              <a:defRPr sz="1100" b="1">
                <a:solidFill>
                  <a:srgbClr val="CCCCCC"/>
                </a:solidFill>
                <a:latin typeface="Arial"/>
              </a:defRPr>
            </a:pPr>
            <a:r>
              <a:t>FINAL TAKEAWAYS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Listen before judging — context matters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Recognize your own cultural lens</a:t>
            </a:r>
          </a:p>
          <a:p>
            <a:pPr>
              <a:spcAft>
                <a:spcPts val="400"/>
              </a:spcAft>
              <a:defRPr sz="1400">
                <a:solidFill>
                  <a:srgbClr val="F5F5F5"/>
                </a:solidFill>
                <a:latin typeface="Arial"/>
              </a:defRPr>
            </a:pPr>
            <a:r>
              <a:t>• Cross-cultural awareness builds empathy and respect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77240" y="502920"/>
            <a:ext cx="2011680" cy="5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F5F5F5"/>
                </a:solidFill>
                <a:latin typeface="Arial Black"/>
              </a:defRPr>
            </a:pPr>
            <a:r>
              <a:t>REFERENCES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10058400" cy="4114800"/>
          </a:xfrm>
          <a:prstGeom prst="roundRect">
            <a:avLst/>
          </a:prstGeom>
          <a:solidFill>
            <a:srgbClr val="2E2E2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27000" bIns="127000"/>
          <a:lstStyle/>
          <a:p>
            <a:pPr algn="ctr">
              <a:spcAft>
                <a:spcPts val="600"/>
              </a:spcAft>
              <a:defRPr sz="1100" b="1">
                <a:solidFill>
                  <a:srgbClr val="CCCCCC"/>
                </a:solidFill>
                <a:latin typeface="Arial"/>
              </a:defRPr>
            </a:pPr>
            <a:r>
              <a:t>SOURCES</a:t>
            </a:r>
          </a:p>
          <a:p>
            <a:pPr>
              <a:spcAft>
                <a:spcPts val="400"/>
              </a:spcAft>
              <a:defRPr sz="1300">
                <a:solidFill>
                  <a:srgbClr val="F5F5F5"/>
                </a:solidFill>
                <a:latin typeface="Arial"/>
              </a:defRPr>
            </a:pPr>
            <a:r>
              <a:t>• Course material — Sociology: Culture and Society unit</a:t>
            </a:r>
          </a:p>
          <a:p>
            <a:pPr>
              <a:spcAft>
                <a:spcPts val="400"/>
              </a:spcAft>
              <a:defRPr sz="1300">
                <a:solidFill>
                  <a:srgbClr val="F5F5F5"/>
                </a:solidFill>
                <a:latin typeface="Arial"/>
              </a:defRPr>
            </a:pPr>
            <a:r>
              <a:t>• Wikimedia Commons — flags, icons, and map imagery (public domain / CC)</a:t>
            </a:r>
          </a:p>
          <a:p>
            <a:pPr>
              <a:spcAft>
                <a:spcPts val="400"/>
              </a:spcAft>
              <a:defRPr sz="1300">
                <a:solidFill>
                  <a:srgbClr val="F5F5F5"/>
                </a:solidFill>
                <a:latin typeface="Arial"/>
              </a:defRPr>
            </a:pPr>
            <a:r>
              <a:t>• Educational Dialogues on Cultural and Cross-Cultural Awareness</a:t>
            </a:r>
          </a:p>
          <a:p>
            <a:pPr>
              <a:spcAft>
                <a:spcPts val="400"/>
              </a:spcAft>
              <a:defRPr sz="1300">
                <a:solidFill>
                  <a:srgbClr val="F5F5F5"/>
                </a:solidFill>
                <a:latin typeface="Arial"/>
              </a:defRPr>
            </a:pPr>
            <a:r>
              <a:t>• Prepared by Palak Patel — June 26,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